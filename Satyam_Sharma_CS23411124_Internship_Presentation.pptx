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84280" y="507492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39728" y="507492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95176" y="507492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50624" y="507492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84280" y="525780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39728" y="525780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95176" y="525780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50624" y="525780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84280" y="544068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539728" y="544068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95176" y="544068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50624" y="544068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84280" y="562356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39728" y="562356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695176" y="562356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50624" y="562356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800" b="1">
                <a:solidFill>
                  <a:srgbClr val="2A0DB5"/>
                </a:solidFill>
                <a:latin typeface="Aptos Display"/>
              </a:defRPr>
            </a:pPr>
            <a:r>
              <a:t>INTERNSHIP EVALUATION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417320"/>
            <a:ext cx="105156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3400" b="1">
                <a:solidFill>
                  <a:srgbClr val="1C1C23"/>
                </a:solidFill>
                <a:latin typeface="Aptos Display"/>
              </a:defRPr>
            </a:pPr>
            <a:r>
              <a:t>Satyam Sharma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148840"/>
            <a:ext cx="10149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2A0DB5"/>
                </a:solidFill>
                <a:latin typeface="Aptos"/>
              </a:defRPr>
            </a:pPr>
            <a:r>
              <a:t>Full Stack Developer Intern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2880360"/>
            <a:ext cx="6263640" cy="2148840"/>
          </a:xfrm>
          <a:prstGeom prst="roundRect">
            <a:avLst/>
          </a:prstGeom>
          <a:solidFill>
            <a:srgbClr val="F5F4FC"/>
          </a:solidFill>
          <a:ln>
            <a:solidFill>
              <a:srgbClr val="E1D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3154680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2A0DB5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154680"/>
            <a:ext cx="39776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C1C23"/>
                </a:solidFill>
                <a:latin typeface="Aptos"/>
              </a:defRPr>
            </a:pPr>
            <a:r>
              <a:t>EscapeMob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721608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2A0DB5"/>
                </a:solidFill>
                <a:latin typeface="Aptos"/>
              </a:defRPr>
            </a:pPr>
            <a:r>
              <a:t>Internship Period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3721608"/>
            <a:ext cx="39776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C1C23"/>
                </a:solidFill>
                <a:latin typeface="Aptos"/>
              </a:defRPr>
            </a:pPr>
            <a:r>
              <a:t>1 June 2026 – 1 August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288536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2A0DB5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288536"/>
            <a:ext cx="39776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C1C23"/>
                </a:solidFill>
                <a:latin typeface="Aptos"/>
              </a:defRPr>
            </a:pPr>
            <a:r>
              <a:t>Full-stack development &amp; web application 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5C5C64"/>
                </a:solidFill>
                <a:latin typeface="Aptos"/>
              </a:defRPr>
            </a:pPr>
            <a:r>
              <a:t>Internship completion certificate confirms successful completion and professional performance.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84280" y="507492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39728" y="507492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95176" y="507492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50624" y="507492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84280" y="525780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39728" y="525780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95176" y="525780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50624" y="525780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84280" y="544068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539728" y="544068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95176" y="544068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50624" y="544068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84280" y="562356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39728" y="562356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695176" y="562356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50624" y="562356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500">
                <a:solidFill>
                  <a:srgbClr val="2A0DB5"/>
                </a:solidFill>
                <a:latin typeface="Aptos Display"/>
              </a:defRPr>
            </a:pPr>
            <a:r>
              <a:t>Internship Context and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109728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1C1C23"/>
                </a:solidFill>
                <a:latin typeface="Aptos"/>
              </a:defRPr>
            </a:pPr>
            <a:r>
              <a:t>1. Development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600200"/>
            <a:ext cx="45720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0">
                <a:solidFill>
                  <a:srgbClr val="1C1C23"/>
                </a:solidFill>
                <a:latin typeface="Aptos"/>
              </a:defRPr>
            </a:pPr>
            <a:r>
              <a:t>Full-stack web application development requires multiple application layers to work together. The internship provided practical exposure to full-stack development tasks and web application development in a professional environment.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86200"/>
            <a:ext cx="4754880" cy="1691640"/>
          </a:xfrm>
          <a:prstGeom prst="roundRect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050791"/>
            <a:ext cx="4352544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FFFFFF"/>
                </a:solidFill>
                <a:latin typeface="Aptos"/>
              </a:defRPr>
            </a:pPr>
            <a:r>
              <a:t>Scope</a:t>
            </a:r>
          </a:p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Full-stack development tasks</a:t>
            </a:r>
            <a:br/>
            <a:r>
              <a:t>• Web application development</a:t>
            </a:r>
            <a:br/>
            <a:r>
              <a:t>• Practical technical problem solving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1234440"/>
            <a:ext cx="5349240" cy="4343400"/>
          </a:xfrm>
          <a:prstGeom prst="roundRect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16168" y="1399032"/>
            <a:ext cx="4946903" cy="4014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FFFFFF"/>
                </a:solidFill>
                <a:latin typeface="Aptos"/>
              </a:defRPr>
            </a:pPr>
            <a:r>
              <a:t>Objectives</a:t>
            </a:r>
          </a:p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I. Apply full-stack development concepts in practical work.</a:t>
            </a:r>
            <a:br/>
            <a:r>
              <a:t>II. Contribute to web application development tasks.</a:t>
            </a:r>
            <a:br/>
            <a:r>
              <a:t>III. Strengthen programming, debugging and problem-solving skills.</a:t>
            </a:r>
            <a:br/>
            <a:r>
              <a:t>IV. Understand how application layers work together.</a:t>
            </a:r>
            <a:br/>
            <a:r>
              <a:t>V. Develop professional discipline and responsibility.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84280" y="507492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39728" y="507492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95176" y="507492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50624" y="507492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84280" y="525780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39728" y="525780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95176" y="525780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50624" y="525780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84280" y="544068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539728" y="544068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95176" y="544068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50624" y="544068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84280" y="562356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39728" y="562356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695176" y="562356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50624" y="562356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500">
                <a:solidFill>
                  <a:srgbClr val="2A0DB5"/>
                </a:solidFill>
                <a:latin typeface="Aptos Display"/>
              </a:defRPr>
            </a:pPr>
            <a:r>
              <a:t>Full-Stack Architecture and Methodology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17320"/>
            <a:ext cx="31546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1C1C23"/>
                </a:solidFill>
                <a:latin typeface="Aptos"/>
              </a:defRPr>
            </a:pPr>
            <a:r>
              <a:t>A conceptual full-stack flow:</a:t>
            </a:r>
            <a:br/>
            <a:br/>
            <a:r>
              <a:t>User interaction → Web application → Server/application logic → Data &amp; services</a:t>
            </a:r>
            <a:br/>
            <a:br/>
            <a:r>
              <a:t>The exact technology stack used during the internship is not specified on the supplied certificate.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1874519"/>
            <a:ext cx="1600200" cy="1508760"/>
          </a:xfrm>
          <a:prstGeom prst="roundRect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95928" y="2039112"/>
            <a:ext cx="1197864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FFFFFF"/>
                </a:solidFill>
                <a:latin typeface="Aptos"/>
              </a:defRPr>
            </a:pPr>
            <a:r>
              <a:t>USER / CLIENT</a:t>
            </a:r>
          </a:p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Browser / user interaction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330952" y="2395728"/>
            <a:ext cx="347472" cy="384048"/>
          </a:xfrm>
          <a:prstGeom prst="rightArrow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23560" y="1874519"/>
            <a:ext cx="1600200" cy="1508760"/>
          </a:xfrm>
          <a:prstGeom prst="roundRect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4728" y="2039112"/>
            <a:ext cx="1197864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FFFFFF"/>
                </a:solidFill>
                <a:latin typeface="Aptos"/>
              </a:defRPr>
            </a:pPr>
            <a:r>
              <a:t>WEB APPLICATION</a:t>
            </a:r>
          </a:p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Interface &amp; application flow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59752" y="2395728"/>
            <a:ext cx="347472" cy="384048"/>
          </a:xfrm>
          <a:prstGeom prst="rightArrow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52360" y="1874519"/>
            <a:ext cx="1600200" cy="1508760"/>
          </a:xfrm>
          <a:prstGeom prst="roundRect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8" y="2039112"/>
            <a:ext cx="1197864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FFFFFF"/>
                </a:solidFill>
                <a:latin typeface="Aptos"/>
              </a:defRPr>
            </a:pPr>
            <a:r>
              <a:t>SERVER / LOGIC</a:t>
            </a:r>
          </a:p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Business logic &amp; APIs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988552" y="2395728"/>
            <a:ext cx="347472" cy="384048"/>
          </a:xfrm>
          <a:prstGeom prst="rightArrow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81160" y="1874519"/>
            <a:ext cx="1600200" cy="1508760"/>
          </a:xfrm>
          <a:prstGeom prst="roundRect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82328" y="2039112"/>
            <a:ext cx="1197864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FFFFFF"/>
                </a:solidFill>
                <a:latin typeface="Aptos"/>
              </a:defRPr>
            </a:pPr>
            <a:r>
              <a:t>DATA / SERVICES</a:t>
            </a:r>
          </a:p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Data handling &amp;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3977639"/>
            <a:ext cx="7086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2A0DB5"/>
                </a:solidFill>
                <a:latin typeface="Aptos"/>
              </a:defRPr>
            </a:pPr>
            <a:r>
              <a:t>Development Methodology</a:t>
            </a:r>
          </a:p>
        </p:txBody>
      </p:sp>
      <p:sp>
        <p:nvSpPr>
          <p:cNvPr id="32" name="Oval 31"/>
          <p:cNvSpPr/>
          <p:nvPr/>
        </p:nvSpPr>
        <p:spPr>
          <a:xfrm>
            <a:off x="3794760" y="4617720"/>
            <a:ext cx="502920" cy="502920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60" y="4690872"/>
            <a:ext cx="502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212080"/>
            <a:ext cx="9601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50" b="0">
                <a:solidFill>
                  <a:srgbClr val="1C1C23"/>
                </a:solidFill>
                <a:latin typeface="Aptos"/>
              </a:defRPr>
            </a:pPr>
            <a:r>
              <a:t>Requirement</a:t>
            </a:r>
            <a:br/>
            <a:r>
              <a:t>Understanding</a:t>
            </a:r>
          </a:p>
        </p:txBody>
      </p:sp>
      <p:sp>
        <p:nvSpPr>
          <p:cNvPr id="35" name="Oval 34"/>
          <p:cNvSpPr/>
          <p:nvPr/>
        </p:nvSpPr>
        <p:spPr>
          <a:xfrm>
            <a:off x="4965192" y="4617720"/>
            <a:ext cx="502920" cy="502920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65192" y="4690872"/>
            <a:ext cx="502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5212080"/>
            <a:ext cx="9601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50" b="0">
                <a:solidFill>
                  <a:srgbClr val="1C1C23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38" name="Oval 37"/>
          <p:cNvSpPr/>
          <p:nvPr/>
        </p:nvSpPr>
        <p:spPr>
          <a:xfrm>
            <a:off x="6135624" y="4617720"/>
            <a:ext cx="502920" cy="502920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4690872"/>
            <a:ext cx="502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7024" y="5212080"/>
            <a:ext cx="9601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50" b="0">
                <a:solidFill>
                  <a:srgbClr val="1C1C23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41" name="Oval 40"/>
          <p:cNvSpPr/>
          <p:nvPr/>
        </p:nvSpPr>
        <p:spPr>
          <a:xfrm>
            <a:off x="7306056" y="4617720"/>
            <a:ext cx="502920" cy="502920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06056" y="4690872"/>
            <a:ext cx="502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77456" y="5212080"/>
            <a:ext cx="9601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50" b="0">
                <a:solidFill>
                  <a:srgbClr val="1C1C23"/>
                </a:solidFill>
                <a:latin typeface="Aptos"/>
              </a:defRPr>
            </a:pPr>
            <a:r>
              <a:t>Testing &amp;</a:t>
            </a:r>
            <a:br/>
            <a:r>
              <a:t>Debugging</a:t>
            </a:r>
          </a:p>
        </p:txBody>
      </p:sp>
      <p:sp>
        <p:nvSpPr>
          <p:cNvPr id="44" name="Oval 43"/>
          <p:cNvSpPr/>
          <p:nvPr/>
        </p:nvSpPr>
        <p:spPr>
          <a:xfrm>
            <a:off x="8476488" y="4617720"/>
            <a:ext cx="502920" cy="502920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76488" y="4690872"/>
            <a:ext cx="502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5212080"/>
            <a:ext cx="9601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50" b="0">
                <a:solidFill>
                  <a:srgbClr val="1C1C23"/>
                </a:solidFill>
                <a:latin typeface="Aptos"/>
              </a:defRPr>
            </a:pPr>
            <a:r>
              <a:t>Refinement</a:t>
            </a:r>
          </a:p>
        </p:txBody>
      </p:sp>
      <p:sp>
        <p:nvSpPr>
          <p:cNvPr id="47" name="Oval 46"/>
          <p:cNvSpPr/>
          <p:nvPr/>
        </p:nvSpPr>
        <p:spPr>
          <a:xfrm>
            <a:off x="9646920" y="4617720"/>
            <a:ext cx="502920" cy="502920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46920" y="4690872"/>
            <a:ext cx="502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5212080"/>
            <a:ext cx="9601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50" b="0">
                <a:solidFill>
                  <a:srgbClr val="1C1C23"/>
                </a:solidFill>
                <a:latin typeface="Aptos"/>
              </a:defRPr>
            </a:pPr>
            <a:r>
              <a:t>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84280" y="507492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39728" y="507492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95176" y="507492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50624" y="507492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84280" y="525780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39728" y="525780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95176" y="525780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50624" y="525780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84280" y="544068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539728" y="544068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95176" y="544068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50624" y="544068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84280" y="562356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39728" y="562356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695176" y="562356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50624" y="5623560"/>
            <a:ext cx="50292" cy="50292"/>
          </a:xfrm>
          <a:prstGeom prst="ellipse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500">
                <a:solidFill>
                  <a:srgbClr val="2A0DB5"/>
                </a:solidFill>
                <a:latin typeface="Aptos Display"/>
              </a:defRPr>
            </a:pPr>
            <a:r>
              <a:t>Outcomes and Takeaways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234440"/>
            <a:ext cx="3429000" cy="1417320"/>
          </a:xfrm>
          <a:prstGeom prst="roundRect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1399032"/>
            <a:ext cx="3026664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FFFFFF"/>
                </a:solidFill>
                <a:latin typeface="Aptos"/>
              </a:defRPr>
            </a:pPr>
            <a:r>
              <a:t>2 MONTHS</a:t>
            </a:r>
          </a:p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Internship duration</a:t>
            </a:r>
            <a:br/>
            <a:r>
              <a:t>1 June – 1 August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234440"/>
            <a:ext cx="3429000" cy="1417320"/>
          </a:xfrm>
          <a:prstGeom prst="roundRect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1399032"/>
            <a:ext cx="3026664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FFFFFF"/>
                </a:solidFill>
                <a:latin typeface="Aptos"/>
              </a:defRPr>
            </a:pPr>
            <a:r>
              <a:t>FULL STACK</a:t>
            </a:r>
          </a:p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Development role</a:t>
            </a:r>
            <a:br/>
            <a:r>
              <a:t>at EscapeMob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1234440"/>
            <a:ext cx="3429000" cy="1417320"/>
          </a:xfrm>
          <a:prstGeom prst="roundRect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8" y="1399032"/>
            <a:ext cx="3026664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FFFFFF"/>
                </a:solidFill>
                <a:latin typeface="Aptos"/>
              </a:defRPr>
            </a:pPr>
            <a:r>
              <a:t>WEB APPS</a:t>
            </a:r>
          </a:p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Web application</a:t>
            </a:r>
            <a:br/>
            <a:r>
              <a:t>development exposure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154680"/>
            <a:ext cx="374903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1C1C23"/>
                </a:solidFill>
                <a:latin typeface="Aptos"/>
              </a:defRPr>
            </a:pPr>
            <a:r>
              <a:t>Skills &amp; 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657600"/>
            <a:ext cx="4114800" cy="1965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50" b="0">
                <a:solidFill>
                  <a:srgbClr val="1C1C23"/>
                </a:solidFill>
                <a:latin typeface="Aptos"/>
              </a:defRPr>
            </a:pPr>
            <a:r>
              <a:t>I. Full-stack development exposure</a:t>
            </a:r>
            <a:br/>
            <a:br/>
            <a:r>
              <a:t>II. Web application development</a:t>
            </a:r>
            <a:br/>
            <a:br/>
            <a:r>
              <a:t>III. Technical problem-solving</a:t>
            </a:r>
            <a:br/>
            <a:br/>
            <a:r>
              <a:t>IV. Practical development experience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3063240"/>
            <a:ext cx="5806440" cy="2514600"/>
          </a:xfrm>
          <a:prstGeom prst="roundRect">
            <a:avLst/>
          </a:prstGeom>
          <a:solidFill>
            <a:srgbClr val="2A0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21807" y="3227832"/>
            <a:ext cx="5404103" cy="2185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FFFFFF"/>
                </a:solidFill>
                <a:latin typeface="Aptos"/>
              </a:defRPr>
            </a:pPr>
            <a:r>
              <a:t>Key Takeaways</a:t>
            </a:r>
          </a:p>
          <a:p>
            <a:pPr>
              <a:spcAft>
                <a:spcPts val="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I. Applied technical skills in a practical internship setting.</a:t>
            </a:r>
            <a:br/>
            <a:r>
              <a:t>II. Gained experience with full-stack development tasks.</a:t>
            </a:r>
            <a:br/>
            <a:r>
              <a:t>III. Strengthened problem-solving abilities.</a:t>
            </a:r>
            <a:br/>
            <a:r>
              <a:t>IV. Developed professional discipline, dedication and responsibility.</a:t>
            </a:r>
            <a:br/>
            <a:r>
              <a:t>V. Completed the internship successfully at EscapeMob.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172200"/>
            <a:ext cx="10789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5C5C64"/>
                </a:solidFill>
                <a:latin typeface="Aptos"/>
              </a:defRPr>
            </a:pPr>
            <a:r>
              <a:t>Source basis: EscapeMob Internship Completion Certificate provided for this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